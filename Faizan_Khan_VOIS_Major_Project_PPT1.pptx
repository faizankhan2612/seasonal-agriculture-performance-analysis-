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9D9D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85" autoAdjust="0"/>
    <p:restoredTop sz="95033" autoAdjust="0"/>
  </p:normalViewPr>
  <p:slideViewPr>
    <p:cSldViewPr snapToGrid="0">
      <p:cViewPr varScale="1">
        <p:scale>
          <a:sx n="79" d="100"/>
          <a:sy n="79" d="100"/>
        </p:scale>
        <p:origin x="-300" y="-84"/>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9/9/2026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Faizankhan2612/Seasonal-Agriculture-Performance-Analysis-" TargetMode="External"/><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282120" y="3066142"/>
            <a:ext cx="9985154" cy="861497"/>
          </a:xfrm>
        </p:spPr>
        <p:txBody>
          <a:bodyPr vert="horz" lIns="91440" tIns="45720" rIns="91440" bIns="45720" rtlCol="0" anchor="t">
            <a:normAutofit/>
          </a:bodyPr>
          <a:lstStyle/>
          <a:p>
            <a:pPr algn="r"/>
            <a:r>
              <a:rPr lang="en-US" b="0" dirty="0">
                <a:solidFill>
                  <a:schemeClr val="tx1"/>
                </a:solidFill>
              </a:rPr>
              <a:t>[Student Name – </a:t>
            </a:r>
            <a:r>
              <a:rPr lang="en-US" b="0" dirty="0" err="1" smtClean="0">
                <a:solidFill>
                  <a:schemeClr val="tx1"/>
                </a:solidFill>
              </a:rPr>
              <a:t>Faizan</a:t>
            </a:r>
            <a:r>
              <a:rPr lang="en-US" b="0" dirty="0" smtClean="0">
                <a:solidFill>
                  <a:schemeClr val="tx1"/>
                </a:solidFill>
              </a:rPr>
              <a:t> Khan </a:t>
            </a:r>
            <a:endParaRPr lang="en-IN" b="0" dirty="0">
              <a:solidFill>
                <a:schemeClr val="tx1"/>
              </a:solidFill>
            </a:endParaRPr>
          </a:p>
          <a:p>
            <a:pPr algn="r"/>
            <a:r>
              <a:rPr lang="en-US" b="0" dirty="0">
                <a:solidFill>
                  <a:schemeClr val="tx1"/>
                </a:solidFill>
              </a:rPr>
              <a:t>College Name- Oriental Institute Of Science &amp; Technology, Bhopal ]</a:t>
            </a:r>
            <a:endParaRPr lang="en-IN"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700021" y="2594834"/>
            <a:ext cx="9985154"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957405" y="4576469"/>
            <a:ext cx="5887147" cy="369332"/>
          </a:xfrm>
          <a:prstGeom prst="rect">
            <a:avLst/>
          </a:prstGeom>
          <a:noFill/>
        </p:spPr>
        <p:txBody>
          <a:bodyPr wrap="square" rtlCol="0">
            <a:spAutoFit/>
          </a:bodyPr>
          <a:lstStyle/>
          <a:p>
            <a:r>
              <a:rPr lang="en-US" b="1" dirty="0"/>
              <a:t>AICTE STU ID : </a:t>
            </a:r>
            <a:r>
              <a:rPr lang="en-US" b="1" dirty="0" smtClean="0"/>
              <a:t>STU682de61dae71d1747838493</a:t>
            </a:r>
            <a:endParaRPr lang="en-US" b="1" dirty="0"/>
          </a:p>
        </p:txBody>
      </p:sp>
    </p:spTree>
    <p:extLst>
      <p:ext uri="{BB962C8B-B14F-4D97-AF65-F5344CB8AC3E}">
        <p14:creationId xmlns=""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675956" y="1625006"/>
            <a:ext cx="7836031" cy="4570237"/>
          </a:xfrm>
        </p:spPr>
        <p:txBody>
          <a:bodyPr vert="horz" lIns="91440" tIns="45720" rIns="91440" bIns="45720" rtlCol="0" anchor="t">
            <a:normAutofit fontScale="70000" lnSpcReduction="20000"/>
          </a:bodyPr>
          <a:lstStyle/>
          <a:p>
            <a:pPr marL="0" indent="0">
              <a:lnSpc>
                <a:spcPct val="150000"/>
              </a:lnSpc>
              <a:buNone/>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 xmlns:a16="http://schemas.microsoft.com/office/drawing/2014/main" id="{3325D941-2157-00BA-93C5-8670810BF323}"/>
              </a:ext>
            </a:extLst>
          </p:cNvPr>
          <p:cNvSpPr>
            <a:spLocks noGrp="1"/>
          </p:cNvSpPr>
          <p:nvPr>
            <p:ph type="body" sz="quarter" idx="12"/>
          </p:nvPr>
        </p:nvSpPr>
        <p:spPr>
          <a:xfrm>
            <a:off x="967749" y="1636210"/>
            <a:ext cx="10256502" cy="4570237"/>
          </a:xfrm>
        </p:spPr>
        <p:txBody>
          <a:bodyPr vert="horz" lIns="91440" tIns="45720" rIns="91440" bIns="45720" rtlCol="0" anchor="t">
            <a:noAutofit/>
          </a:bodyPr>
          <a:lstStyle/>
          <a:p>
            <a:pPr marL="0" indent="0">
              <a:lnSpc>
                <a:spcPct val="120000"/>
              </a:lnSpc>
              <a:buNone/>
            </a:pPr>
            <a:r>
              <a:rPr lang="en-US" b="1" dirty="0"/>
              <a:t>Seasonal Agriculture Performance Analysis</a:t>
            </a:r>
            <a:r>
              <a:rPr lang="en-US" dirty="0"/>
              <a:t> is a data analytics project that analyzes agricultural activities across different seasons, geographical areas, and farming conditions.</a:t>
            </a:r>
          </a:p>
          <a:p>
            <a:pPr>
              <a:lnSpc>
                <a:spcPct val="120000"/>
              </a:lnSpc>
            </a:pPr>
            <a:r>
              <a:rPr lang="en-US" dirty="0"/>
              <a:t>Explores </a:t>
            </a:r>
            <a:r>
              <a:rPr lang="en-US" b="1" dirty="0"/>
              <a:t>crop production, farming practices, resource usage, environmental conditions, and economic performance</a:t>
            </a:r>
            <a:r>
              <a:rPr lang="en-US" dirty="0"/>
              <a:t>.</a:t>
            </a:r>
          </a:p>
          <a:p>
            <a:pPr>
              <a:lnSpc>
                <a:spcPct val="120000"/>
              </a:lnSpc>
            </a:pPr>
            <a:r>
              <a:rPr lang="en-US" dirty="0"/>
              <a:t>Compares agricultural performance across different </a:t>
            </a:r>
            <a:r>
              <a:rPr lang="en-US" b="1" dirty="0"/>
              <a:t>seasons and categories</a:t>
            </a:r>
            <a:r>
              <a:rPr lang="en-US" dirty="0"/>
              <a:t>.</a:t>
            </a:r>
          </a:p>
          <a:p>
            <a:pPr>
              <a:lnSpc>
                <a:spcPct val="120000"/>
              </a:lnSpc>
            </a:pPr>
            <a:r>
              <a:rPr lang="en-US" dirty="0"/>
              <a:t>Identifies </a:t>
            </a:r>
            <a:r>
              <a:rPr lang="en-US" b="1" dirty="0"/>
              <a:t>seasonal patterns, trends, relationships, variations, and unusual observations</a:t>
            </a:r>
            <a:r>
              <a:rPr lang="en-US" dirty="0"/>
              <a:t> in the dataset.</a:t>
            </a:r>
          </a:p>
          <a:p>
            <a:pPr>
              <a:lnSpc>
                <a:spcPct val="120000"/>
              </a:lnSpc>
            </a:pPr>
            <a:r>
              <a:rPr lang="en-US" dirty="0"/>
              <a:t>Uses </a:t>
            </a:r>
            <a:r>
              <a:rPr lang="en-US" b="1" dirty="0"/>
              <a:t>data cleaning, statistical analysis, and visualization techniques</a:t>
            </a:r>
            <a:r>
              <a:rPr lang="en-US" dirty="0"/>
              <a:t> to transform raw agricultural data into meaningful insights.</a:t>
            </a:r>
          </a:p>
          <a:p>
            <a:pPr>
              <a:lnSpc>
                <a:spcPct val="120000"/>
              </a:lnSpc>
            </a:pPr>
            <a:r>
              <a:rPr lang="en-US" dirty="0"/>
              <a:t>Provides </a:t>
            </a:r>
            <a:r>
              <a:rPr lang="en-US" b="1" dirty="0"/>
              <a:t>evidence-based findings and recommendations</a:t>
            </a:r>
            <a:r>
              <a:rPr lang="en-US" dirty="0"/>
              <a:t> to support better seasonal agricultural planning.</a:t>
            </a:r>
          </a:p>
        </p:txBody>
      </p:sp>
    </p:spTree>
    <p:extLst>
      <p:ext uri="{BB962C8B-B14F-4D97-AF65-F5344CB8AC3E}">
        <p14:creationId xmlns=""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 xmlns:a16="http://schemas.microsoft.com/office/drawing/2014/main" id="{7F5ACFA4-1944-9C62-8C82-06A676DB5612}"/>
              </a:ext>
            </a:extLst>
          </p:cNvPr>
          <p:cNvSpPr>
            <a:spLocks noGrp="1" noChangeArrowheads="1"/>
          </p:cNvSpPr>
          <p:nvPr>
            <p:ph type="body" sz="quarter" idx="12"/>
          </p:nvPr>
        </p:nvSpPr>
        <p:spPr bwMode="auto">
          <a:xfrm>
            <a:off x="752973" y="1679258"/>
            <a:ext cx="10743690" cy="44012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Farmers &amp; Agricultural Practitioners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-Understand seasonal performance, crop patterns, and resource usage.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Agricultural Planners &amp; Decision-Makers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-Use data-driven insights for better seasonal agricultural planning.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Researchers &amp; Agricultural Analysts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-Study seasonal trends, environmental conditions, and relationships in agricultural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Government &amp; Agricultural Organizations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-Support evidence-based planning and identify areas requiring further investigation.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Students &amp; Data Analysts</a:t>
            </a:r>
            <a:r>
              <a:rPr kumimoji="0" lang="en-US" altLang="en-US" i="0" u="none" strike="noStrike" cap="none" normalizeH="0" baseline="0" dirty="0">
                <a:ln>
                  <a:noFill/>
                </a:ln>
                <a:solidFill>
                  <a:schemeClr val="tx1"/>
                </a:solidFill>
                <a:effectLst/>
              </a:rPr>
              <a:t/>
            </a:r>
            <a:br>
              <a:rPr kumimoji="0" lang="en-US" altLang="en-US" i="0" u="none" strike="noStrike" cap="none" normalizeH="0" baseline="0" dirty="0">
                <a:ln>
                  <a:noFill/>
                </a:ln>
                <a:solidFill>
                  <a:schemeClr val="tx1"/>
                </a:solidFill>
                <a:effectLst/>
              </a:rPr>
            </a:br>
            <a:r>
              <a:rPr kumimoji="0" lang="en-US" altLang="en-US" i="0" u="none" strike="noStrike" cap="none" normalizeH="0" baseline="0" dirty="0">
                <a:ln>
                  <a:noFill/>
                </a:ln>
                <a:solidFill>
                  <a:schemeClr val="tx1"/>
                </a:solidFill>
                <a:effectLst/>
              </a:rPr>
              <a:t>    -Explore real-world agricultural data and develop analytical insights. </a:t>
            </a:r>
          </a:p>
        </p:txBody>
      </p:sp>
    </p:spTree>
    <p:extLst>
      <p:ext uri="{BB962C8B-B14F-4D97-AF65-F5344CB8AC3E}">
        <p14:creationId xmlns=""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 xmlns:a16="http://schemas.microsoft.com/office/drawing/2014/main" id="{B21C28F5-3CA3-4B78-B5C9-550C00BB3174}"/>
              </a:ext>
            </a:extLst>
          </p:cNvPr>
          <p:cNvSpPr>
            <a:spLocks noGrp="1"/>
          </p:cNvSpPr>
          <p:nvPr>
            <p:ph type="body" sz="quarter" idx="12"/>
          </p:nvPr>
        </p:nvSpPr>
        <p:spPr>
          <a:xfrm>
            <a:off x="1452839" y="1315059"/>
            <a:ext cx="9027702" cy="5243448"/>
          </a:xfrm>
        </p:spPr>
        <p:txBody>
          <a:bodyPr>
            <a:normAutofit fontScale="92500" lnSpcReduction="20000"/>
          </a:bodyPr>
          <a:lstStyle/>
          <a:p>
            <a:pPr>
              <a:lnSpc>
                <a:spcPct val="120000"/>
              </a:lnSpc>
            </a:pPr>
            <a:r>
              <a:rPr lang="en-IN" sz="2200" b="1" u="sng" dirty="0"/>
              <a:t>Programming Language</a:t>
            </a:r>
            <a:endParaRPr lang="en-IN" sz="2200" u="sng" dirty="0"/>
          </a:p>
          <a:p>
            <a:pPr marL="0" indent="0">
              <a:lnSpc>
                <a:spcPct val="120000"/>
              </a:lnSpc>
              <a:buNone/>
            </a:pPr>
            <a:r>
              <a:rPr lang="en-IN" sz="2200" dirty="0"/>
              <a:t>     Python</a:t>
            </a:r>
          </a:p>
          <a:p>
            <a:pPr>
              <a:lnSpc>
                <a:spcPct val="120000"/>
              </a:lnSpc>
            </a:pPr>
            <a:r>
              <a:rPr lang="en-IN" sz="2200" b="1" u="sng" dirty="0"/>
              <a:t>Development Environment</a:t>
            </a:r>
            <a:endParaRPr lang="en-IN" sz="2200" u="sng" dirty="0"/>
          </a:p>
          <a:p>
            <a:pPr marL="0" indent="0">
              <a:lnSpc>
                <a:spcPct val="120000"/>
              </a:lnSpc>
              <a:buNone/>
            </a:pPr>
            <a:r>
              <a:rPr lang="en-IN" sz="2200" dirty="0"/>
              <a:t>     Visual Studio Code (VS Code)</a:t>
            </a:r>
          </a:p>
          <a:p>
            <a:pPr>
              <a:lnSpc>
                <a:spcPct val="120000"/>
              </a:lnSpc>
            </a:pPr>
            <a:r>
              <a:rPr lang="en-IN" sz="2200" b="1" u="sng" dirty="0"/>
              <a:t>Data Handling &amp; Analysis</a:t>
            </a:r>
            <a:endParaRPr lang="en-IN" sz="2200" u="sng" dirty="0"/>
          </a:p>
          <a:p>
            <a:pPr marL="0" indent="0">
              <a:lnSpc>
                <a:spcPct val="120000"/>
              </a:lnSpc>
              <a:buNone/>
            </a:pPr>
            <a:r>
              <a:rPr lang="en-IN" sz="2200" dirty="0"/>
              <a:t>     Pandas</a:t>
            </a:r>
          </a:p>
          <a:p>
            <a:pPr marL="0" indent="0">
              <a:lnSpc>
                <a:spcPct val="120000"/>
              </a:lnSpc>
              <a:buNone/>
            </a:pPr>
            <a:r>
              <a:rPr lang="en-IN" sz="2200" dirty="0"/>
              <a:t>     NumPy</a:t>
            </a:r>
          </a:p>
          <a:p>
            <a:pPr>
              <a:lnSpc>
                <a:spcPct val="120000"/>
              </a:lnSpc>
            </a:pPr>
            <a:r>
              <a:rPr lang="en-IN" sz="2200" b="1" u="sng" dirty="0"/>
              <a:t>Data Visualization</a:t>
            </a:r>
            <a:endParaRPr lang="en-IN" sz="2200" u="sng" dirty="0"/>
          </a:p>
          <a:p>
            <a:pPr marL="0" indent="0">
              <a:lnSpc>
                <a:spcPct val="120000"/>
              </a:lnSpc>
              <a:buNone/>
            </a:pPr>
            <a:r>
              <a:rPr lang="en-IN" sz="2200" dirty="0"/>
              <a:t>     Matplotlib</a:t>
            </a:r>
          </a:p>
          <a:p>
            <a:pPr marL="0" indent="0">
              <a:lnSpc>
                <a:spcPct val="120000"/>
              </a:lnSpc>
              <a:buNone/>
            </a:pPr>
            <a:r>
              <a:rPr lang="en-IN" sz="2200" dirty="0"/>
              <a:t>     Seaborn</a:t>
            </a:r>
          </a:p>
          <a:p>
            <a:pPr>
              <a:lnSpc>
                <a:spcPct val="120000"/>
              </a:lnSpc>
            </a:pPr>
            <a:r>
              <a:rPr lang="en-IN" sz="2200" b="1" u="sng" dirty="0"/>
              <a:t>Dataset</a:t>
            </a:r>
            <a:endParaRPr lang="en-IN" sz="2200" u="sng" dirty="0"/>
          </a:p>
          <a:p>
            <a:pPr marL="0" indent="0">
              <a:lnSpc>
                <a:spcPct val="120000"/>
              </a:lnSpc>
              <a:buNone/>
            </a:pPr>
            <a:r>
              <a:rPr lang="en-IN" sz="2200" dirty="0"/>
              <a:t>     CSV (Seasonal Agriculture Performance Dataset)</a:t>
            </a:r>
          </a:p>
          <a:p>
            <a:pPr lvl="1">
              <a:lnSpc>
                <a:spcPct val="120000"/>
              </a:lnSpc>
            </a:pPr>
            <a:endParaRPr lang="en-IN" dirty="0"/>
          </a:p>
        </p:txBody>
      </p:sp>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graph with numbers and lines&#10;&#10;Description automatically generated">
            <a:extLst>
              <a:ext uri="{FF2B5EF4-FFF2-40B4-BE49-F238E27FC236}">
                <a16:creationId xmlns="" xmlns:a16="http://schemas.microsoft.com/office/drawing/2014/main" id="{6442AE19-FE30-04C7-8D26-C15BE9A1D0A8}"/>
              </a:ext>
            </a:extLst>
          </p:cNvPr>
          <p:cNvPicPr>
            <a:picLocks noChangeAspect="1"/>
          </p:cNvPicPr>
          <p:nvPr/>
        </p:nvPicPr>
        <p:blipFill>
          <a:blip r:embed="rId3"/>
          <a:stretch>
            <a:fillRect/>
          </a:stretch>
        </p:blipFill>
        <p:spPr>
          <a:xfrm>
            <a:off x="495088" y="1703997"/>
            <a:ext cx="4971492" cy="4194385"/>
          </a:xfrm>
          <a:prstGeom prst="rect">
            <a:avLst/>
          </a:prstGeom>
        </p:spPr>
      </p:pic>
      <p:pic>
        <p:nvPicPr>
          <p:cNvPr id="12" name="Picture 11" descr="A graph with a blue line&#10;&#10;Description automatically generated">
            <a:extLst>
              <a:ext uri="{FF2B5EF4-FFF2-40B4-BE49-F238E27FC236}">
                <a16:creationId xmlns="" xmlns:a16="http://schemas.microsoft.com/office/drawing/2014/main" id="{9FF11C39-F3DE-9C5D-E757-81F2B94A886A}"/>
              </a:ext>
            </a:extLst>
          </p:cNvPr>
          <p:cNvPicPr>
            <a:picLocks noChangeAspect="1"/>
          </p:cNvPicPr>
          <p:nvPr/>
        </p:nvPicPr>
        <p:blipFill>
          <a:blip r:embed="rId4"/>
          <a:stretch>
            <a:fillRect/>
          </a:stretch>
        </p:blipFill>
        <p:spPr>
          <a:xfrm>
            <a:off x="6017474" y="1703998"/>
            <a:ext cx="5181468" cy="4194384"/>
          </a:xfrm>
          <a:prstGeom prst="rect">
            <a:avLst/>
          </a:prstGeom>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graph with blue lines&#10;&#10;Description automatically generated">
            <a:extLst>
              <a:ext uri="{FF2B5EF4-FFF2-40B4-BE49-F238E27FC236}">
                <a16:creationId xmlns="" xmlns:a16="http://schemas.microsoft.com/office/drawing/2014/main" id="{36ACEC2C-8E74-B12F-D357-AF9754D1AEBA}"/>
              </a:ext>
            </a:extLst>
          </p:cNvPr>
          <p:cNvPicPr>
            <a:picLocks noChangeAspect="1"/>
          </p:cNvPicPr>
          <p:nvPr/>
        </p:nvPicPr>
        <p:blipFill>
          <a:blip r:embed="rId3"/>
          <a:stretch>
            <a:fillRect/>
          </a:stretch>
        </p:blipFill>
        <p:spPr>
          <a:xfrm>
            <a:off x="320982" y="1539076"/>
            <a:ext cx="5529212" cy="4510032"/>
          </a:xfrm>
          <a:prstGeom prst="rect">
            <a:avLst/>
          </a:prstGeom>
        </p:spPr>
      </p:pic>
      <p:pic>
        <p:nvPicPr>
          <p:cNvPr id="9" name="Picture 8" descr="A screen shot of a graph&#10;&#10;Description automatically generated">
            <a:extLst>
              <a:ext uri="{FF2B5EF4-FFF2-40B4-BE49-F238E27FC236}">
                <a16:creationId xmlns="" xmlns:a16="http://schemas.microsoft.com/office/drawing/2014/main" id="{69176CCD-96E8-0302-7326-A04759A58B37}"/>
              </a:ext>
            </a:extLst>
          </p:cNvPr>
          <p:cNvPicPr>
            <a:picLocks noChangeAspect="1"/>
          </p:cNvPicPr>
          <p:nvPr/>
        </p:nvPicPr>
        <p:blipFill>
          <a:blip r:embed="rId4"/>
          <a:stretch>
            <a:fillRect/>
          </a:stretch>
        </p:blipFill>
        <p:spPr>
          <a:xfrm>
            <a:off x="6017474" y="1539075"/>
            <a:ext cx="5821784" cy="4510033"/>
          </a:xfrm>
          <a:prstGeom prst="rect">
            <a:avLst/>
          </a:prstGeom>
        </p:spPr>
      </p:pic>
    </p:spTree>
    <p:extLst>
      <p:ext uri="{BB962C8B-B14F-4D97-AF65-F5344CB8AC3E}">
        <p14:creationId xmlns=""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screenshot of a computer&#10;&#10;Description automatically generated">
            <a:extLst>
              <a:ext uri="{FF2B5EF4-FFF2-40B4-BE49-F238E27FC236}">
                <a16:creationId xmlns="" xmlns:a16="http://schemas.microsoft.com/office/drawing/2014/main" id="{44279802-9B16-5FFB-E903-315EB89BB451}"/>
              </a:ext>
            </a:extLst>
          </p:cNvPr>
          <p:cNvPicPr>
            <a:picLocks noChangeAspect="1"/>
          </p:cNvPicPr>
          <p:nvPr/>
        </p:nvPicPr>
        <p:blipFill>
          <a:blip r:embed="rId3"/>
          <a:stretch>
            <a:fillRect/>
          </a:stretch>
        </p:blipFill>
        <p:spPr>
          <a:xfrm>
            <a:off x="914400" y="1201586"/>
            <a:ext cx="8829368" cy="5270334"/>
          </a:xfrm>
          <a:prstGeom prst="rect">
            <a:avLst/>
          </a:prstGeom>
        </p:spPr>
      </p:pic>
    </p:spTree>
    <p:extLst>
      <p:ext uri="{BB962C8B-B14F-4D97-AF65-F5344CB8AC3E}">
        <p14:creationId xmlns=""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screenshot of a graph&#10;&#10;Description automatically generated">
            <a:extLst>
              <a:ext uri="{FF2B5EF4-FFF2-40B4-BE49-F238E27FC236}">
                <a16:creationId xmlns="" xmlns:a16="http://schemas.microsoft.com/office/drawing/2014/main" id="{019EBB84-883B-06C4-B3C3-62C90B035B54}"/>
              </a:ext>
            </a:extLst>
          </p:cNvPr>
          <p:cNvPicPr>
            <a:picLocks noChangeAspect="1"/>
          </p:cNvPicPr>
          <p:nvPr/>
        </p:nvPicPr>
        <p:blipFill>
          <a:blip r:embed="rId3"/>
          <a:stretch>
            <a:fillRect/>
          </a:stretch>
        </p:blipFill>
        <p:spPr>
          <a:xfrm>
            <a:off x="706594" y="1329507"/>
            <a:ext cx="10798476" cy="5142413"/>
          </a:xfrm>
          <a:prstGeom prst="rect">
            <a:avLst/>
          </a:prstGeom>
        </p:spPr>
      </p:pic>
    </p:spTree>
    <p:extLst>
      <p:ext uri="{BB962C8B-B14F-4D97-AF65-F5344CB8AC3E}">
        <p14:creationId xmlns=""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screen shot of a graph&#10;&#10;Description automatically generated">
            <a:extLst>
              <a:ext uri="{FF2B5EF4-FFF2-40B4-BE49-F238E27FC236}">
                <a16:creationId xmlns="" xmlns:a16="http://schemas.microsoft.com/office/drawing/2014/main" id="{87283BC4-4B17-039E-9EA7-EAC392120DD3}"/>
              </a:ext>
            </a:extLst>
          </p:cNvPr>
          <p:cNvPicPr>
            <a:picLocks noChangeAspect="1"/>
          </p:cNvPicPr>
          <p:nvPr/>
        </p:nvPicPr>
        <p:blipFill>
          <a:blip r:embed="rId3"/>
          <a:stretch>
            <a:fillRect/>
          </a:stretch>
        </p:blipFill>
        <p:spPr>
          <a:xfrm>
            <a:off x="1017760" y="1213919"/>
            <a:ext cx="8057414" cy="5258001"/>
          </a:xfrm>
          <a:prstGeom prst="rect">
            <a:avLst/>
          </a:prstGeom>
        </p:spPr>
      </p:pic>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a:xfrm>
            <a:off x="692001" y="777413"/>
            <a:ext cx="4735798" cy="830997"/>
          </a:xfrm>
        </p:spPr>
        <p:txBody>
          <a:bodyPr>
            <a:normAutofit/>
          </a:bodyPr>
          <a:lstStyle/>
          <a:p>
            <a:r>
              <a:rPr lang="en-IN" sz="4000" dirty="0"/>
              <a:t>Future scope</a:t>
            </a:r>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2">
            <a:extLst>
              <a:ext uri="{FF2B5EF4-FFF2-40B4-BE49-F238E27FC236}">
                <a16:creationId xmlns="" xmlns:a16="http://schemas.microsoft.com/office/drawing/2014/main" id="{780ADEC7-4F0A-948A-66F6-9832FBE106D5}"/>
              </a:ext>
            </a:extLst>
          </p:cNvPr>
          <p:cNvSpPr>
            <a:spLocks noGrp="1" noChangeArrowheads="1"/>
          </p:cNvSpPr>
          <p:nvPr>
            <p:ph type="body" sz="quarter" idx="12"/>
          </p:nvPr>
        </p:nvSpPr>
        <p:spPr bwMode="auto">
          <a:xfrm>
            <a:off x="904558" y="1941449"/>
            <a:ext cx="9462807" cy="3785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Predictive Analysis</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Develop models to predict future agricultural             performance across seasons.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Real-Time Data Integration</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Incorporate live weather, soil, and market data for continuous analysis.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Regional Analysis</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Extend the analysis to more geographical regions and agricultural categories.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Advanced Analytics</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Apply machine learning to identify deeper relationships and seasonal patterns.</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Decision Support System</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Develop a data-driven system to support farmers and agricultural planners in seasonal planning.</a:t>
            </a:r>
          </a:p>
          <a:p>
            <a:pPr marL="0" marR="0" lvl="0" indent="0" algn="l" defTabSz="914400" rtl="0" eaLnBrk="0" fontAlgn="base" latinLnBrk="0" hangingPunct="0">
              <a:spcBef>
                <a:spcPct val="0"/>
              </a:spcBef>
              <a:spcAft>
                <a:spcPct val="0"/>
              </a:spcAft>
              <a:buClrTx/>
              <a:buSzTx/>
              <a:buFontTx/>
              <a:buChar char="•"/>
              <a:tabLst/>
            </a:pPr>
            <a:r>
              <a:rPr kumimoji="0" lang="en-US" altLang="en-US" b="1" i="0" u="sng" strike="noStrike" cap="none" normalizeH="0" baseline="0" dirty="0">
                <a:ln>
                  <a:noFill/>
                </a:ln>
                <a:solidFill>
                  <a:schemeClr val="tx1"/>
                </a:solidFill>
                <a:effectLst/>
              </a:rPr>
              <a:t>Interactive Dashboard</a:t>
            </a:r>
            <a:r>
              <a:rPr kumimoji="0" lang="en-US" altLang="en-US" b="0" i="0" u="sng"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Create an interactive dashboard for easier exploration of agricultural trends and insights. </a:t>
            </a:r>
          </a:p>
        </p:txBody>
      </p:sp>
    </p:spTree>
    <p:extLst>
      <p:ext uri="{BB962C8B-B14F-4D97-AF65-F5344CB8AC3E}">
        <p14:creationId xmlns=""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 xmlns:a16="http://schemas.microsoft.com/office/drawing/2014/main" id="{7E69B2DF-7968-6EEC-A8A4-4B924FD8C1BE}"/>
              </a:ext>
            </a:extLst>
          </p:cNvPr>
          <p:cNvSpPr txBox="1"/>
          <p:nvPr/>
        </p:nvSpPr>
        <p:spPr>
          <a:xfrm flipH="1">
            <a:off x="1073726" y="1302924"/>
            <a:ext cx="7095715" cy="1477328"/>
          </a:xfrm>
          <a:prstGeom prst="rect">
            <a:avLst/>
          </a:prstGeom>
          <a:noFill/>
        </p:spPr>
        <p:txBody>
          <a:bodyPr wrap="square" rtlCol="0">
            <a:spAutoFit/>
          </a:bodyPr>
          <a:lstStyle/>
          <a:p>
            <a:r>
              <a:rPr lang="en-US" dirty="0" err="1"/>
              <a:t>Github</a:t>
            </a:r>
            <a:r>
              <a:rPr lang="en-US" dirty="0"/>
              <a:t> Profile </a:t>
            </a:r>
            <a:r>
              <a:rPr lang="en-US" dirty="0" smtClean="0"/>
              <a:t>link-  </a:t>
            </a:r>
            <a:r>
              <a:rPr lang="en-US" dirty="0" smtClean="0">
                <a:hlinkClick r:id="rId3"/>
              </a:rPr>
              <a:t>https://</a:t>
            </a:r>
            <a:r>
              <a:rPr lang="en-US" dirty="0" smtClean="0">
                <a:hlinkClick r:id="rId3"/>
              </a:rPr>
              <a:t>github.com/Faizankhan2612/Seasonal-Agriculture-Performance-Analysis-</a:t>
            </a:r>
            <a:r>
              <a:rPr lang="en-US" dirty="0" smtClean="0"/>
              <a:t>  </a:t>
            </a:r>
            <a:endParaRPr lang="en-US" dirty="0"/>
          </a:p>
          <a:p>
            <a:endParaRPr lang="en-US" dirty="0"/>
          </a:p>
          <a:p>
            <a:endParaRPr lang="en-IN" dirty="0"/>
          </a:p>
        </p:txBody>
      </p:sp>
    </p:spTree>
    <p:extLst>
      <p:ext uri="{BB962C8B-B14F-4D97-AF65-F5344CB8AC3E}">
        <p14:creationId xmlns=""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Certificate_page-0001.jpg"/>
          <p:cNvPicPr>
            <a:picLocks noChangeAspect="1"/>
          </p:cNvPicPr>
          <p:nvPr/>
        </p:nvPicPr>
        <p:blipFill>
          <a:blip r:embed="rId3"/>
          <a:stretch>
            <a:fillRect/>
          </a:stretch>
        </p:blipFill>
        <p:spPr>
          <a:xfrm>
            <a:off x="1153281" y="1624263"/>
            <a:ext cx="6955106" cy="4920916"/>
          </a:xfrm>
          <a:prstGeom prst="rect">
            <a:avLst/>
          </a:prstGeom>
        </p:spPr>
      </p:pic>
    </p:spTree>
    <p:extLst>
      <p:ext uri="{BB962C8B-B14F-4D97-AF65-F5344CB8AC3E}">
        <p14:creationId xmlns=""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xfrm>
            <a:off x="426000" y="29806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649</TotalTime>
  <Words>388</Words>
  <Application>Microsoft Office PowerPoint</Application>
  <PresentationFormat>Custom</PresentationFormat>
  <Paragraphs>55</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Lenovo</cp:lastModifiedBy>
  <cp:revision>105</cp:revision>
  <dcterms:created xsi:type="dcterms:W3CDTF">2021-07-11T13:13:15Z</dcterms:created>
  <dcterms:modified xsi:type="dcterms:W3CDTF">2026-09-09T11:34:39Z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